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58" r:id="rId4"/>
    <p:sldId id="267" r:id="rId5"/>
    <p:sldId id="268" r:id="rId6"/>
    <p:sldId id="269" r:id="rId7"/>
    <p:sldId id="270" r:id="rId8"/>
    <p:sldId id="262" r:id="rId9"/>
  </p:sldIdLst>
  <p:sldSz cx="9144000" cy="5143500" type="screen16x9"/>
  <p:notesSz cx="6858000" cy="9144000"/>
  <p:embeddedFontLst>
    <p:embeddedFont>
      <p:font typeface="Average" panose="020B0604020202020204" charset="0"/>
      <p:regular r:id="rId11"/>
    </p:embeddedFont>
    <p:embeddedFont>
      <p:font typeface="Oswald" panose="00000500000000000000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E5C4C3-3E78-4D91-9A55-70F0D75B5017}">
  <a:tblStyle styleId="{76E5C4C3-3E78-4D91-9A55-70F0D75B50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88" y="2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80f9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80f9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980f9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980f9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PAY GAP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3rd, 2025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By: Mariam Azam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/>
              <a:t>Problem Statement:</a:t>
            </a:r>
            <a:endParaRPr sz="4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 UK government department is concerned with monitoring the gender pay gap across different industries.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170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2" name="Google Shape;72;p15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15"/>
          <p:cNvSpPr txBox="1">
            <a:spLocks noGrp="1"/>
          </p:cNvSpPr>
          <p:nvPr>
            <p:ph type="body" idx="4294967295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UK-Wide Pay Gap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4294967295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GB" sz="1600" dirty="0"/>
              <a:t>The average pay gap across different regions in UK</a:t>
            </a:r>
          </a:p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endParaRPr lang="en-GB" sz="1600" dirty="0"/>
          </a:p>
        </p:txBody>
      </p:sp>
      <p:grpSp>
        <p:nvGrpSpPr>
          <p:cNvPr id="77" name="Google Shape;77;p15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5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Large Pay Gaps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4294967295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endParaRPr lang="en-GB" sz="1600" dirty="0"/>
          </a:p>
          <a:p>
            <a:pPr marL="285750" indent="-285750">
              <a:lnSpc>
                <a:spcPct val="100000"/>
              </a:lnSpc>
            </a:pPr>
            <a:r>
              <a:rPr lang="en-GB" sz="1600" dirty="0"/>
              <a:t>Companies with largest pay gaps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 dirty="0"/>
          </a:p>
          <a:p>
            <a:pPr marL="0" indent="0">
              <a:lnSpc>
                <a:spcPct val="100000"/>
              </a:lnSpc>
              <a:buNone/>
            </a:pPr>
            <a:endParaRPr lang="en-GB" sz="1600" dirty="0"/>
          </a:p>
          <a:p>
            <a:pPr marL="285750" indent="-285750">
              <a:lnSpc>
                <a:spcPct val="100000"/>
              </a:lnSpc>
            </a:pPr>
            <a:r>
              <a:rPr lang="en-GB" sz="1600" dirty="0"/>
              <a:t>Pay gap </a:t>
            </a:r>
            <a:r>
              <a:rPr lang="en-GB" sz="1600" dirty="0" err="1"/>
              <a:t>w.r.t.</a:t>
            </a:r>
            <a:r>
              <a:rPr lang="en-GB" sz="1600" dirty="0"/>
              <a:t> factors (i.e., company size, industry type)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pSp>
        <p:nvGrpSpPr>
          <p:cNvPr id="82" name="Google Shape;82;p15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83" name="Google Shape;83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15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Conclusion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4294967295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endParaRPr lang="en-GB" sz="1600" dirty="0"/>
          </a:p>
          <a:p>
            <a:pPr marL="285750" indent="-285750">
              <a:spcAft>
                <a:spcPts val="1600"/>
              </a:spcAft>
            </a:pPr>
            <a:r>
              <a:rPr lang="en-GB" sz="1600" dirty="0"/>
              <a:t>Limitations</a:t>
            </a:r>
          </a:p>
          <a:p>
            <a:pPr marL="285750" indent="-285750">
              <a:spcAft>
                <a:spcPts val="1600"/>
              </a:spcAft>
            </a:pPr>
            <a:r>
              <a:rPr lang="en-GB" sz="1600" dirty="0"/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D3BD-96FB-392F-CD66-8B8F087E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UK-Wide </a:t>
            </a:r>
            <a:br>
              <a:rPr lang="en-GB" dirty="0"/>
            </a:br>
            <a:r>
              <a:rPr lang="en-GB" dirty="0"/>
              <a:t>Pay Gap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B3EB2-8CA4-E5DC-B573-410F385DE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50644"/>
            <a:ext cx="4045200" cy="1345500"/>
          </a:xfrm>
        </p:spPr>
        <p:txBody>
          <a:bodyPr/>
          <a:lstStyle/>
          <a:p>
            <a:r>
              <a:rPr lang="en-GB" dirty="0"/>
              <a:t>Pay Gap by Regions in UK</a:t>
            </a:r>
          </a:p>
          <a:p>
            <a:endParaRPr lang="en-GB" dirty="0"/>
          </a:p>
          <a:p>
            <a:r>
              <a:rPr lang="en-GB" dirty="0"/>
              <a:t>London VS Others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82448-FC07-31F7-36AC-AC606284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81400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9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ED27-BF44-3C01-FF63-7476F92C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Largest Pay Gaps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9636E-A725-6A9B-AB4B-588D02F39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Highest Median Pay Gap Towards Men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2CB45-FF73-370F-77A4-5DA3C1421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11" y="1081400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6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0D83-2280-62B5-ED0A-CCA8044B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87F7-E790-CBE8-7911-DC2AE208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Largest Pay Gaps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53730-F5C1-5639-AF0D-626380062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Respect to Company Size</a:t>
            </a:r>
          </a:p>
          <a:p>
            <a:endParaRPr lang="en-GB" sz="1600" dirty="0"/>
          </a:p>
          <a:p>
            <a:r>
              <a:rPr lang="en-GB" sz="1600" dirty="0"/>
              <a:t>The findings show that pay gap differs based on the company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F869A-F016-CB92-4ADB-36CB0F88A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11" y="1081400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2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BE19-96CF-5519-2A14-01467F48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FEF1-A630-9FC2-3A93-D8E5EA06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Largest Pay Gaps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E1271-23AB-5BF3-3B07-958DF2713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With Respect to Sectors</a:t>
            </a:r>
          </a:p>
          <a:p>
            <a:endParaRPr lang="en-GB" sz="1600"/>
          </a:p>
          <a:p>
            <a:r>
              <a:rPr lang="en-GB" sz="1600"/>
              <a:t>The findings show that pay gap varies across different sectors</a:t>
            </a:r>
            <a:endParaRPr lang="en-GB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8CB41-D6DC-543E-E671-C52A8CCE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81400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1"/>
                </a:solidFill>
                <a:latin typeface="Oswald" panose="00000500000000000000" pitchFamily="2" charset="0"/>
              </a:rPr>
              <a:t>Limitations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dk1"/>
                </a:solidFill>
              </a:rPr>
              <a:t>The dataset has lacks sufficient information on:</a:t>
            </a:r>
          </a:p>
          <a:p>
            <a:pPr marL="285750" indent="-285750"/>
            <a:r>
              <a:rPr lang="en-GB" sz="2100" dirty="0">
                <a:solidFill>
                  <a:schemeClr val="dk1"/>
                </a:solidFill>
              </a:rPr>
              <a:t>Job Roles</a:t>
            </a:r>
          </a:p>
          <a:p>
            <a:pPr marL="285750" indent="-285750"/>
            <a:r>
              <a:rPr lang="en-GB" sz="2100" dirty="0">
                <a:solidFill>
                  <a:schemeClr val="dk1"/>
                </a:solidFill>
              </a:rPr>
              <a:t>Employment Type </a:t>
            </a:r>
          </a:p>
          <a:p>
            <a:pPr marL="285750" indent="-285750"/>
            <a:r>
              <a:rPr lang="en-GB" sz="2100" dirty="0">
                <a:solidFill>
                  <a:schemeClr val="dk1"/>
                </a:solidFill>
              </a:rPr>
              <a:t>Location</a:t>
            </a:r>
          </a:p>
          <a:p>
            <a:pPr marL="285750" indent="-285750"/>
            <a:endParaRPr lang="en" sz="1800" dirty="0">
              <a:solidFill>
                <a:schemeClr val="dk1"/>
              </a:solidFill>
            </a:endParaRPr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1"/>
                </a:solidFill>
                <a:latin typeface="Oswald" panose="00000500000000000000" pitchFamily="2" charset="0"/>
              </a:rPr>
              <a:t>Recommendations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1"/>
                </a:solidFill>
                <a:latin typeface="Average" panose="020B0604020202020204" charset="0"/>
              </a:rPr>
              <a:t>The dataset should include:</a:t>
            </a:r>
          </a:p>
          <a:p>
            <a:pPr marL="342900" indent="-342900"/>
            <a:r>
              <a:rPr lang="en" sz="2100" dirty="0">
                <a:solidFill>
                  <a:schemeClr val="dk1"/>
                </a:solidFill>
                <a:latin typeface="Average" panose="020B0604020202020204" charset="0"/>
              </a:rPr>
              <a:t>Employee Roles</a:t>
            </a:r>
          </a:p>
          <a:p>
            <a:pPr marL="342900" indent="-342900"/>
            <a:r>
              <a:rPr lang="en" sz="2100" dirty="0">
                <a:solidFill>
                  <a:schemeClr val="dk1"/>
                </a:solidFill>
                <a:latin typeface="Average" panose="020B0604020202020204" charset="0"/>
              </a:rPr>
              <a:t>Employment Type</a:t>
            </a:r>
          </a:p>
          <a:p>
            <a:pPr marL="342900" indent="-342900"/>
            <a:r>
              <a:rPr lang="en" sz="2100" dirty="0">
                <a:solidFill>
                  <a:schemeClr val="dk1"/>
                </a:solidFill>
                <a:latin typeface="Average" panose="020B0604020202020204" charset="0"/>
              </a:rPr>
              <a:t>Bonus Criteria</a:t>
            </a:r>
          </a:p>
          <a:p>
            <a:pPr marL="342900" indent="-342900"/>
            <a:r>
              <a:rPr lang="en" sz="2100" dirty="0">
                <a:solidFill>
                  <a:schemeClr val="dk1"/>
                </a:solidFill>
                <a:latin typeface="Average" panose="020B0604020202020204" charset="0"/>
              </a:rPr>
              <a:t>Region/City </a:t>
            </a:r>
            <a:endParaRPr sz="2100" dirty="0">
              <a:solidFill>
                <a:schemeClr val="dk1"/>
              </a:solidFill>
              <a:latin typeface="Average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166</Words>
  <Application>Microsoft Office PowerPoint</Application>
  <PresentationFormat>On-screen Show (16:9)</PresentationFormat>
  <Paragraphs>44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Oswald</vt:lpstr>
      <vt:lpstr>Average</vt:lpstr>
      <vt:lpstr>Arial</vt:lpstr>
      <vt:lpstr>Slate</vt:lpstr>
      <vt:lpstr>GENDER PAY GAP</vt:lpstr>
      <vt:lpstr>Problem Statement: A UK government department is concerned with monitoring the gender pay gap across different industries.</vt:lpstr>
      <vt:lpstr>Aim </vt:lpstr>
      <vt:lpstr>The UK-Wide  Pay Gap</vt:lpstr>
      <vt:lpstr>Largest Pay Gaps</vt:lpstr>
      <vt:lpstr>Largest Pay Gaps</vt:lpstr>
      <vt:lpstr>Largest Pay Gaps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Mariam Azam</cp:lastModifiedBy>
  <cp:revision>4</cp:revision>
  <dcterms:modified xsi:type="dcterms:W3CDTF">2025-05-03T09:08:30Z</dcterms:modified>
</cp:coreProperties>
</file>